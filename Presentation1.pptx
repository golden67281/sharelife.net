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8" r:id="rId12"/>
    <p:sldId id="265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B0AF"/>
    <a:srgbClr val="D5201E"/>
    <a:srgbClr val="D21E1E"/>
    <a:srgbClr val="BE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BE493-33C3-2A7B-94AF-C5E511EE4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DC741D-9144-94FF-F2FD-5D4A1BD3E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08CA9-7016-A80A-4CBE-5DFA15277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C9A3-41AA-456F-AD59-D5D48688FE1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35CC5-8E38-7931-2CF3-1D3DE9B5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491EA-E024-CC3B-A31E-D3C33D055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D82B-1AF2-4D5C-9DC3-7801E2D1E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713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B4A94-5211-CB55-7939-8E26775B6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CFDB0-0ADB-99DD-A338-7F5390F94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99756-B186-0878-0D99-D6B30C5B3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C9A3-41AA-456F-AD59-D5D48688FE1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FAB1B-C82B-6131-8F36-22D26B39E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A0462-4F48-E851-CFDF-6B445DBD8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D82B-1AF2-4D5C-9DC3-7801E2D1E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379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F4EEB-4E89-976C-F48A-9FF65F7E2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29810-65F5-130A-45AC-62CA812F7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5697A-4426-4B17-3710-593615536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C9A3-41AA-456F-AD59-D5D48688FE1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19E44-748F-1AB8-4888-64D1185B5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098BE-21DC-6ABA-58FF-08FC9209E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D82B-1AF2-4D5C-9DC3-7801E2D1E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548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52E48-238A-0C13-356C-7D660E303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9E0D0-E944-5D36-CE19-479C63D1EB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78B5E-EF92-29EE-ECB3-2ABD9EE2B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51C53-C081-EA38-DA04-EAD99B148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C9A3-41AA-456F-AD59-D5D48688FE1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BCF88-B055-CFD6-9899-016DF6DCA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2BBB2A-2B26-9264-F847-423499851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D82B-1AF2-4D5C-9DC3-7801E2D1E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84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CA3E5-C4DA-D8DF-33F0-5CF44EB54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F009C-10F9-2030-347A-EF0F50749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0A401-54B5-6CE8-0826-7095D2187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BE9AF0-4F7E-4090-7A03-EC6F4785F8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388303-B865-7108-F74C-7307A3CC41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2D47EE-E3F8-1378-6619-2F7235BAF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C9A3-41AA-456F-AD59-D5D48688FE1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078271-78B5-E0D7-6962-0100F2E13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7118DE-73A1-23FA-9C91-1AFAA0D59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D82B-1AF2-4D5C-9DC3-7801E2D1E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238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70669-25C6-5E4B-BDF2-BA30BEFDB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C733B-37E7-B9C6-44E6-CE1D98344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C9A3-41AA-456F-AD59-D5D48688FE1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BA21E-4ADD-19E7-7022-9183A9585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9AD88E-9EF8-7874-7A37-CB625E943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D82B-1AF2-4D5C-9DC3-7801E2D1E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19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C6D275-BE52-3791-D1E7-FDAB528D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C9A3-41AA-456F-AD59-D5D48688FE1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E3F028-CD34-19B6-E507-3375E480D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C9B52-5FF7-05BC-CD58-32A6D59A1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D82B-1AF2-4D5C-9DC3-7801E2D1E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507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C655F-3356-C54F-6ED2-F2CA8202F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A0142-4E44-19CB-214D-2908356E2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C1EB77-7372-BB6C-550A-9F6C35CC3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E99D4-36FA-D766-74FA-B869B6C1A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C9A3-41AA-456F-AD59-D5D48688FE1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B7F1B-3A7F-1BCE-EA86-CF9CBAE7B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9CCD9-D82A-BE19-C261-E12EE1BE5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D82B-1AF2-4D5C-9DC3-7801E2D1E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084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3800E-C343-9A7A-8BA0-8B0793B43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B6E992-9F8B-E6D4-DA68-0592BB9430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1B78F-9CE1-5EFB-93DE-51B1C995B9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892E2-5AB8-9E77-71E6-B75BC6CE4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C9A3-41AA-456F-AD59-D5D48688FE1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236FB-8ADD-D03F-A139-DC34079F2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5057C-AC31-3AC5-5127-3B5A3D87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D82B-1AF2-4D5C-9DC3-7801E2D1E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655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F8028-151B-B8B7-3FB0-10F8AECED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BBBDB1-5FA1-21CF-0DEC-A79FDACC6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DAEC8-40BF-198F-172A-87266877E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C9A3-41AA-456F-AD59-D5D48688FE1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D756B-B704-2E48-9A7A-26681723F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B249C-66CE-07F5-1501-074885921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D82B-1AF2-4D5C-9DC3-7801E2D1E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629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380C53-4B5A-3300-92E9-C75E89D7B3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48D64-D9C6-ED48-CB25-CDEB92145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8C9EE-B5F6-E32B-8C48-2D79D4B63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C9A3-41AA-456F-AD59-D5D48688FE1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F5E1D-1D5B-1D32-39A8-D3BD8581C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4704E-802A-C6A1-4D71-F2B41DA4F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D82B-1AF2-4D5C-9DC3-7801E2D1E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045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29C246-33FD-C03A-3BC6-D09132C88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E21DA-6D1B-CD2C-7552-757614581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8831B-B0CC-4654-045E-1FB5B3D87B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6C9A3-41AA-456F-AD59-D5D48688FE1F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21CE5-9F64-C7CE-6F86-D3E9DA5C1F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AD25B-C880-1709-291C-33472ED61C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DD82B-1AF2-4D5C-9DC3-7801E2D1E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650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7E2176E-6360-B5B5-8C3E-3316792719ED}"/>
              </a:ext>
            </a:extLst>
          </p:cNvPr>
          <p:cNvSpPr txBox="1"/>
          <p:nvPr/>
        </p:nvSpPr>
        <p:spPr>
          <a:xfrm>
            <a:off x="2369528" y="910492"/>
            <a:ext cx="51566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rgbClr val="FF0000"/>
                </a:solidFill>
                <a:latin typeface="Aptos Display" panose="020B0004020202020204" pitchFamily="34" charset="0"/>
              </a:rPr>
              <a:t>ShareLife</a:t>
            </a:r>
            <a:endParaRPr lang="en-IN" sz="9600" b="1" dirty="0">
              <a:solidFill>
                <a:srgbClr val="FF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DA457C-2160-7D50-D82B-EF82B0328091}"/>
              </a:ext>
            </a:extLst>
          </p:cNvPr>
          <p:cNvSpPr txBox="1"/>
          <p:nvPr/>
        </p:nvSpPr>
        <p:spPr>
          <a:xfrm>
            <a:off x="2510205" y="2115588"/>
            <a:ext cx="6466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 Blood Donor Management System</a:t>
            </a:r>
            <a:endParaRPr lang="en-IN" sz="32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60C0BB-4F04-DA92-4571-16B53377722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6787" y="2217520"/>
            <a:ext cx="6327530" cy="118949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29CDC10-D022-E833-FBD8-1FF69291032F}"/>
              </a:ext>
            </a:extLst>
          </p:cNvPr>
          <p:cNvSpPr/>
          <p:nvPr/>
        </p:nvSpPr>
        <p:spPr>
          <a:xfrm>
            <a:off x="0" y="5750169"/>
            <a:ext cx="12218377" cy="1107831"/>
          </a:xfrm>
          <a:custGeom>
            <a:avLst/>
            <a:gdLst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218377"/>
              <a:gd name="csY0" fmla="*/ 35169 h 1107831"/>
              <a:gd name="csX1" fmla="*/ 12218377 w 12218377"/>
              <a:gd name="csY1" fmla="*/ 0 h 1107831"/>
              <a:gd name="csX2" fmla="*/ 12192000 w 12218377"/>
              <a:gd name="csY2" fmla="*/ 1107831 h 1107831"/>
              <a:gd name="csX3" fmla="*/ 0 w 12218377"/>
              <a:gd name="csY3" fmla="*/ 1107831 h 1107831"/>
              <a:gd name="csX4" fmla="*/ 0 w 12218377"/>
              <a:gd name="csY4" fmla="*/ 35169 h 11078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218377" h="1107831">
                <a:moveTo>
                  <a:pt x="0" y="35169"/>
                </a:moveTo>
                <a:cubicBezTo>
                  <a:pt x="5031155" y="2409091"/>
                  <a:pt x="8154377" y="0"/>
                  <a:pt x="12218377" y="0"/>
                </a:cubicBezTo>
                <a:lnTo>
                  <a:pt x="12192000" y="1107831"/>
                </a:lnTo>
                <a:lnTo>
                  <a:pt x="0" y="1107831"/>
                </a:lnTo>
                <a:lnTo>
                  <a:pt x="0" y="3516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C01EFD-8803-6D61-99F7-5D61F451CD25}"/>
              </a:ext>
            </a:extLst>
          </p:cNvPr>
          <p:cNvSpPr/>
          <p:nvPr/>
        </p:nvSpPr>
        <p:spPr>
          <a:xfrm>
            <a:off x="0" y="-8792"/>
            <a:ext cx="2101361" cy="1248507"/>
          </a:xfrm>
          <a:custGeom>
            <a:avLst/>
            <a:gdLst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2101361"/>
              <a:gd name="csY0" fmla="*/ 8792 h 1248507"/>
              <a:gd name="csX1" fmla="*/ 2101361 w 2101361"/>
              <a:gd name="csY1" fmla="*/ 0 h 1248507"/>
              <a:gd name="csX2" fmla="*/ 1143000 w 2101361"/>
              <a:gd name="csY2" fmla="*/ 729761 h 1248507"/>
              <a:gd name="csX3" fmla="*/ 0 w 2101361"/>
              <a:gd name="csY3" fmla="*/ 1248507 h 1248507"/>
              <a:gd name="csX4" fmla="*/ 0 w 2101361"/>
              <a:gd name="csY4" fmla="*/ 8792 h 1248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01361" h="1248507">
                <a:moveTo>
                  <a:pt x="0" y="8792"/>
                </a:moveTo>
                <a:lnTo>
                  <a:pt x="2101361" y="0"/>
                </a:lnTo>
                <a:cubicBezTo>
                  <a:pt x="2101361" y="756138"/>
                  <a:pt x="1239715" y="167054"/>
                  <a:pt x="1143000" y="729761"/>
                </a:cubicBezTo>
                <a:cubicBezTo>
                  <a:pt x="911469" y="1140068"/>
                  <a:pt x="381000" y="1075592"/>
                  <a:pt x="0" y="1248507"/>
                </a:cubicBezTo>
                <a:lnTo>
                  <a:pt x="0" y="879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9088D5A-3150-B758-F4CA-17AE027B2E5C}"/>
              </a:ext>
            </a:extLst>
          </p:cNvPr>
          <p:cNvSpPr/>
          <p:nvPr/>
        </p:nvSpPr>
        <p:spPr>
          <a:xfrm>
            <a:off x="8853779" y="3589930"/>
            <a:ext cx="3188752" cy="2160239"/>
          </a:xfrm>
          <a:custGeom>
            <a:avLst/>
            <a:gdLst>
              <a:gd name="csX0" fmla="*/ 0 w 2907323"/>
              <a:gd name="csY0" fmla="*/ 984739 h 1969477"/>
              <a:gd name="csX1" fmla="*/ 1453662 w 2907323"/>
              <a:gd name="csY1" fmla="*/ 0 h 1969477"/>
              <a:gd name="csX2" fmla="*/ 2907324 w 2907323"/>
              <a:gd name="csY2" fmla="*/ 984739 h 1969477"/>
              <a:gd name="csX3" fmla="*/ 1453662 w 2907323"/>
              <a:gd name="csY3" fmla="*/ 1969478 h 1969477"/>
              <a:gd name="csX4" fmla="*/ 0 w 2907323"/>
              <a:gd name="csY4" fmla="*/ 984739 h 1969477"/>
              <a:gd name="csX0" fmla="*/ 0 w 3188678"/>
              <a:gd name="csY0" fmla="*/ 1386193 h 1992306"/>
              <a:gd name="csX1" fmla="*/ 1735016 w 3188678"/>
              <a:gd name="csY1" fmla="*/ 5800 h 1992306"/>
              <a:gd name="csX2" fmla="*/ 3188678 w 3188678"/>
              <a:gd name="csY2" fmla="*/ 990539 h 1992306"/>
              <a:gd name="csX3" fmla="*/ 1735016 w 3188678"/>
              <a:gd name="csY3" fmla="*/ 1975278 h 1992306"/>
              <a:gd name="csX4" fmla="*/ 0 w 3188678"/>
              <a:gd name="csY4" fmla="*/ 1386193 h 1992306"/>
              <a:gd name="csX0" fmla="*/ 33 w 3188711"/>
              <a:gd name="csY0" fmla="*/ 1560674 h 2158973"/>
              <a:gd name="csX1" fmla="*/ 1779010 w 3188711"/>
              <a:gd name="csY1" fmla="*/ 4435 h 2158973"/>
              <a:gd name="csX2" fmla="*/ 3188711 w 3188711"/>
              <a:gd name="csY2" fmla="*/ 1165020 h 2158973"/>
              <a:gd name="csX3" fmla="*/ 1735049 w 3188711"/>
              <a:gd name="csY3" fmla="*/ 2149759 h 2158973"/>
              <a:gd name="csX4" fmla="*/ 33 w 3188711"/>
              <a:gd name="csY4" fmla="*/ 1560674 h 2158973"/>
              <a:gd name="csX0" fmla="*/ 74 w 3188752"/>
              <a:gd name="csY0" fmla="*/ 1560674 h 2160239"/>
              <a:gd name="csX1" fmla="*/ 1779051 w 3188752"/>
              <a:gd name="csY1" fmla="*/ 4435 h 2160239"/>
              <a:gd name="csX2" fmla="*/ 3188752 w 3188752"/>
              <a:gd name="csY2" fmla="*/ 1165020 h 2160239"/>
              <a:gd name="csX3" fmla="*/ 1735090 w 3188752"/>
              <a:gd name="csY3" fmla="*/ 2149759 h 2160239"/>
              <a:gd name="csX4" fmla="*/ 74 w 3188752"/>
              <a:gd name="csY4" fmla="*/ 1560674 h 21602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88752" h="2160239">
                <a:moveTo>
                  <a:pt x="74" y="1560674"/>
                </a:moveTo>
                <a:cubicBezTo>
                  <a:pt x="7401" y="1203120"/>
                  <a:pt x="1247605" y="70377"/>
                  <a:pt x="1779051" y="4435"/>
                </a:cubicBezTo>
                <a:cubicBezTo>
                  <a:pt x="2310497" y="-61507"/>
                  <a:pt x="3188752" y="621164"/>
                  <a:pt x="3188752" y="1165020"/>
                </a:cubicBezTo>
                <a:cubicBezTo>
                  <a:pt x="3188752" y="1708876"/>
                  <a:pt x="2943544" y="2242078"/>
                  <a:pt x="1735090" y="2149759"/>
                </a:cubicBezTo>
                <a:cubicBezTo>
                  <a:pt x="526636" y="2057440"/>
                  <a:pt x="-7253" y="1918228"/>
                  <a:pt x="74" y="1560674"/>
                </a:cubicBezTo>
                <a:close/>
              </a:path>
            </a:pathLst>
          </a:custGeom>
          <a:solidFill>
            <a:srgbClr val="EBB0AF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1127569-49B2-7EDA-4C3A-B56F91D167A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58535" y="866532"/>
            <a:ext cx="7753351" cy="51689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9F82E7-3FDB-444C-904F-90DAB02FA7B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5013" y="772266"/>
            <a:ext cx="1639766" cy="229075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C34038D-FD37-75F0-1C97-E131BC188CA4}"/>
              </a:ext>
            </a:extLst>
          </p:cNvPr>
          <p:cNvSpPr txBox="1"/>
          <p:nvPr/>
        </p:nvSpPr>
        <p:spPr>
          <a:xfrm>
            <a:off x="1984674" y="4268120"/>
            <a:ext cx="52123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Presented By:</a:t>
            </a:r>
          </a:p>
          <a:p>
            <a:r>
              <a:rPr lang="en-US" sz="2400" dirty="0"/>
              <a:t>Satyam Sharma 	2505112120182</a:t>
            </a:r>
          </a:p>
          <a:p>
            <a:r>
              <a:rPr lang="en-US" sz="2400" dirty="0"/>
              <a:t>Nency D. Rana 	2505112120189</a:t>
            </a:r>
          </a:p>
          <a:p>
            <a:r>
              <a:rPr lang="en-US" sz="2400" dirty="0"/>
              <a:t>Vaibhav Kumar 	2505112120189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05771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CA5103F3-1DEA-765C-A733-5EFD7BC0572E}"/>
              </a:ext>
            </a:extLst>
          </p:cNvPr>
          <p:cNvSpPr/>
          <p:nvPr/>
        </p:nvSpPr>
        <p:spPr>
          <a:xfrm>
            <a:off x="0" y="5750169"/>
            <a:ext cx="12218377" cy="1107831"/>
          </a:xfrm>
          <a:custGeom>
            <a:avLst/>
            <a:gdLst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218377"/>
              <a:gd name="csY0" fmla="*/ 35169 h 1107831"/>
              <a:gd name="csX1" fmla="*/ 12218377 w 12218377"/>
              <a:gd name="csY1" fmla="*/ 0 h 1107831"/>
              <a:gd name="csX2" fmla="*/ 12192000 w 12218377"/>
              <a:gd name="csY2" fmla="*/ 1107831 h 1107831"/>
              <a:gd name="csX3" fmla="*/ 0 w 12218377"/>
              <a:gd name="csY3" fmla="*/ 1107831 h 1107831"/>
              <a:gd name="csX4" fmla="*/ 0 w 12218377"/>
              <a:gd name="csY4" fmla="*/ 35169 h 11078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218377" h="1107831">
                <a:moveTo>
                  <a:pt x="0" y="35169"/>
                </a:moveTo>
                <a:cubicBezTo>
                  <a:pt x="5031155" y="2409091"/>
                  <a:pt x="8154377" y="0"/>
                  <a:pt x="12218377" y="0"/>
                </a:cubicBezTo>
                <a:lnTo>
                  <a:pt x="12192000" y="1107831"/>
                </a:lnTo>
                <a:lnTo>
                  <a:pt x="0" y="1107831"/>
                </a:lnTo>
                <a:lnTo>
                  <a:pt x="0" y="3516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6A88F12E-1C9D-08E2-590E-154FF454C6D2}"/>
              </a:ext>
            </a:extLst>
          </p:cNvPr>
          <p:cNvSpPr/>
          <p:nvPr/>
        </p:nvSpPr>
        <p:spPr>
          <a:xfrm>
            <a:off x="0" y="-8792"/>
            <a:ext cx="2101361" cy="1248507"/>
          </a:xfrm>
          <a:custGeom>
            <a:avLst/>
            <a:gdLst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2101361"/>
              <a:gd name="csY0" fmla="*/ 8792 h 1248507"/>
              <a:gd name="csX1" fmla="*/ 2101361 w 2101361"/>
              <a:gd name="csY1" fmla="*/ 0 h 1248507"/>
              <a:gd name="csX2" fmla="*/ 1143000 w 2101361"/>
              <a:gd name="csY2" fmla="*/ 729761 h 1248507"/>
              <a:gd name="csX3" fmla="*/ 0 w 2101361"/>
              <a:gd name="csY3" fmla="*/ 1248507 h 1248507"/>
              <a:gd name="csX4" fmla="*/ 0 w 2101361"/>
              <a:gd name="csY4" fmla="*/ 8792 h 1248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01361" h="1248507">
                <a:moveTo>
                  <a:pt x="0" y="8792"/>
                </a:moveTo>
                <a:lnTo>
                  <a:pt x="2101361" y="0"/>
                </a:lnTo>
                <a:cubicBezTo>
                  <a:pt x="2101361" y="756138"/>
                  <a:pt x="1239715" y="167054"/>
                  <a:pt x="1143000" y="729761"/>
                </a:cubicBezTo>
                <a:cubicBezTo>
                  <a:pt x="911469" y="1140068"/>
                  <a:pt x="381000" y="1075592"/>
                  <a:pt x="0" y="1248507"/>
                </a:cubicBezTo>
                <a:lnTo>
                  <a:pt x="0" y="879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56CD0F-8333-4588-F215-E680A3838C4B}"/>
              </a:ext>
            </a:extLst>
          </p:cNvPr>
          <p:cNvSpPr txBox="1"/>
          <p:nvPr/>
        </p:nvSpPr>
        <p:spPr>
          <a:xfrm>
            <a:off x="2275741" y="615461"/>
            <a:ext cx="38334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Aptos" panose="020B0004020202020204" pitchFamily="34" charset="0"/>
              </a:rPr>
              <a:t>Introduction</a:t>
            </a:r>
            <a:endParaRPr lang="en-IN" sz="48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BE92C2-F6E1-D0A1-979B-04ED70A707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0258" y="756138"/>
            <a:ext cx="5345723" cy="5029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69F9C8-A5A0-202D-7657-1F92AEB163A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52903" y="1072662"/>
            <a:ext cx="8216412" cy="42203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3FD2C24-C722-798E-5038-D49DDB9BD20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86516" y="467657"/>
            <a:ext cx="589225" cy="82314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0D5A8AC-E41E-BDCE-1D07-23BCC1DE6C34}"/>
              </a:ext>
            </a:extLst>
          </p:cNvPr>
          <p:cNvSpPr txBox="1"/>
          <p:nvPr/>
        </p:nvSpPr>
        <p:spPr>
          <a:xfrm>
            <a:off x="1538654" y="1494693"/>
            <a:ext cx="512591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dirty="0">
                <a:latin typeface="Aptos" panose="020B0004020202020204" pitchFamily="34" charset="0"/>
              </a:rPr>
              <a:t>ShareLife is a web-based Blood Donor Management System developed to connect blood donors with people in need.</a:t>
            </a:r>
          </a:p>
          <a:p>
            <a:pPr algn="just"/>
            <a:endParaRPr lang="en-IN" sz="2400" dirty="0">
              <a:latin typeface="Aptos" panose="020B0004020202020204" pitchFamily="34" charset="0"/>
            </a:endParaRPr>
          </a:p>
          <a:p>
            <a:pPr algn="just"/>
            <a:r>
              <a:rPr lang="en-IN" sz="2400" dirty="0">
                <a:latin typeface="Aptos" panose="020B0004020202020204" pitchFamily="34" charset="0"/>
              </a:rPr>
              <a:t>The system enables donor registration, blood group search, and centralized donor record management, making blood availability faster during emergencies.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297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0360B-3ACE-0301-5D02-BF2D7C467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EE29F6C8-0B58-E66A-D1FC-33980AE01702}"/>
              </a:ext>
            </a:extLst>
          </p:cNvPr>
          <p:cNvSpPr/>
          <p:nvPr/>
        </p:nvSpPr>
        <p:spPr>
          <a:xfrm>
            <a:off x="0" y="5750169"/>
            <a:ext cx="12218377" cy="1107831"/>
          </a:xfrm>
          <a:custGeom>
            <a:avLst/>
            <a:gdLst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218377"/>
              <a:gd name="csY0" fmla="*/ 35169 h 1107831"/>
              <a:gd name="csX1" fmla="*/ 12218377 w 12218377"/>
              <a:gd name="csY1" fmla="*/ 0 h 1107831"/>
              <a:gd name="csX2" fmla="*/ 12192000 w 12218377"/>
              <a:gd name="csY2" fmla="*/ 1107831 h 1107831"/>
              <a:gd name="csX3" fmla="*/ 0 w 12218377"/>
              <a:gd name="csY3" fmla="*/ 1107831 h 1107831"/>
              <a:gd name="csX4" fmla="*/ 0 w 12218377"/>
              <a:gd name="csY4" fmla="*/ 35169 h 11078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218377" h="1107831">
                <a:moveTo>
                  <a:pt x="0" y="35169"/>
                </a:moveTo>
                <a:cubicBezTo>
                  <a:pt x="5031155" y="2409091"/>
                  <a:pt x="8154377" y="0"/>
                  <a:pt x="12218377" y="0"/>
                </a:cubicBezTo>
                <a:lnTo>
                  <a:pt x="12192000" y="1107831"/>
                </a:lnTo>
                <a:lnTo>
                  <a:pt x="0" y="1107831"/>
                </a:lnTo>
                <a:lnTo>
                  <a:pt x="0" y="3516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636DC776-A017-DD0A-EEE3-8E901B78CE2B}"/>
              </a:ext>
            </a:extLst>
          </p:cNvPr>
          <p:cNvSpPr/>
          <p:nvPr/>
        </p:nvSpPr>
        <p:spPr>
          <a:xfrm>
            <a:off x="0" y="-8792"/>
            <a:ext cx="2101361" cy="1248507"/>
          </a:xfrm>
          <a:custGeom>
            <a:avLst/>
            <a:gdLst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2101361"/>
              <a:gd name="csY0" fmla="*/ 8792 h 1248507"/>
              <a:gd name="csX1" fmla="*/ 2101361 w 2101361"/>
              <a:gd name="csY1" fmla="*/ 0 h 1248507"/>
              <a:gd name="csX2" fmla="*/ 1143000 w 2101361"/>
              <a:gd name="csY2" fmla="*/ 729761 h 1248507"/>
              <a:gd name="csX3" fmla="*/ 0 w 2101361"/>
              <a:gd name="csY3" fmla="*/ 1248507 h 1248507"/>
              <a:gd name="csX4" fmla="*/ 0 w 2101361"/>
              <a:gd name="csY4" fmla="*/ 8792 h 1248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01361" h="1248507">
                <a:moveTo>
                  <a:pt x="0" y="8792"/>
                </a:moveTo>
                <a:lnTo>
                  <a:pt x="2101361" y="0"/>
                </a:lnTo>
                <a:cubicBezTo>
                  <a:pt x="2101361" y="756138"/>
                  <a:pt x="1239715" y="167054"/>
                  <a:pt x="1143000" y="729761"/>
                </a:cubicBezTo>
                <a:cubicBezTo>
                  <a:pt x="911469" y="1140068"/>
                  <a:pt x="381000" y="1075592"/>
                  <a:pt x="0" y="1248507"/>
                </a:cubicBezTo>
                <a:lnTo>
                  <a:pt x="0" y="879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FC03F9-A1DE-F4C3-62E1-8E7EBBB6A8AC}"/>
              </a:ext>
            </a:extLst>
          </p:cNvPr>
          <p:cNvSpPr txBox="1"/>
          <p:nvPr/>
        </p:nvSpPr>
        <p:spPr>
          <a:xfrm>
            <a:off x="2073519" y="615461"/>
            <a:ext cx="56812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Aptos" panose="020B0004020202020204" pitchFamily="34" charset="0"/>
              </a:rPr>
              <a:t>Problem Statement</a:t>
            </a:r>
            <a:endParaRPr lang="en-IN" sz="48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1E97F2-DC65-FA71-0EEB-E9B03FADEF3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91356" y="1183757"/>
            <a:ext cx="8216412" cy="4220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9B7425-07C1-48E9-A83A-A5F429BBDDC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74860" y="689005"/>
            <a:ext cx="5061946" cy="47622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6227F0-8328-4513-EF79-A896F148154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47376" y="555105"/>
            <a:ext cx="589225" cy="8231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7955E1-D787-CF11-32F3-B938B87EF439}"/>
              </a:ext>
            </a:extLst>
          </p:cNvPr>
          <p:cNvSpPr txBox="1"/>
          <p:nvPr/>
        </p:nvSpPr>
        <p:spPr>
          <a:xfrm>
            <a:off x="1468248" y="1648674"/>
            <a:ext cx="506194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Difficulty in finding blood donors during emergencies.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Donor information is often stored manually.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Searching for the required blood group takes time.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Lack of a centralized donor database.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Communication between donors and beneficiaries is inefficient.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2348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A920D-C175-3AAF-2BFD-80BAAAAE3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20DF8028-577D-C09A-CB6F-648816DE88D2}"/>
              </a:ext>
            </a:extLst>
          </p:cNvPr>
          <p:cNvSpPr/>
          <p:nvPr/>
        </p:nvSpPr>
        <p:spPr>
          <a:xfrm>
            <a:off x="0" y="5750169"/>
            <a:ext cx="12218377" cy="1107831"/>
          </a:xfrm>
          <a:custGeom>
            <a:avLst/>
            <a:gdLst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218377"/>
              <a:gd name="csY0" fmla="*/ 35169 h 1107831"/>
              <a:gd name="csX1" fmla="*/ 12218377 w 12218377"/>
              <a:gd name="csY1" fmla="*/ 0 h 1107831"/>
              <a:gd name="csX2" fmla="*/ 12192000 w 12218377"/>
              <a:gd name="csY2" fmla="*/ 1107831 h 1107831"/>
              <a:gd name="csX3" fmla="*/ 0 w 12218377"/>
              <a:gd name="csY3" fmla="*/ 1107831 h 1107831"/>
              <a:gd name="csX4" fmla="*/ 0 w 12218377"/>
              <a:gd name="csY4" fmla="*/ 35169 h 11078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218377" h="1107831">
                <a:moveTo>
                  <a:pt x="0" y="35169"/>
                </a:moveTo>
                <a:cubicBezTo>
                  <a:pt x="5031155" y="2409091"/>
                  <a:pt x="8154377" y="0"/>
                  <a:pt x="12218377" y="0"/>
                </a:cubicBezTo>
                <a:lnTo>
                  <a:pt x="12192000" y="1107831"/>
                </a:lnTo>
                <a:lnTo>
                  <a:pt x="0" y="1107831"/>
                </a:lnTo>
                <a:lnTo>
                  <a:pt x="0" y="3516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4D289F26-8960-EFD0-050C-39F441ABA3C0}"/>
              </a:ext>
            </a:extLst>
          </p:cNvPr>
          <p:cNvSpPr/>
          <p:nvPr/>
        </p:nvSpPr>
        <p:spPr>
          <a:xfrm>
            <a:off x="0" y="-8792"/>
            <a:ext cx="2101361" cy="1248507"/>
          </a:xfrm>
          <a:custGeom>
            <a:avLst/>
            <a:gdLst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2101361"/>
              <a:gd name="csY0" fmla="*/ 8792 h 1248507"/>
              <a:gd name="csX1" fmla="*/ 2101361 w 2101361"/>
              <a:gd name="csY1" fmla="*/ 0 h 1248507"/>
              <a:gd name="csX2" fmla="*/ 1143000 w 2101361"/>
              <a:gd name="csY2" fmla="*/ 729761 h 1248507"/>
              <a:gd name="csX3" fmla="*/ 0 w 2101361"/>
              <a:gd name="csY3" fmla="*/ 1248507 h 1248507"/>
              <a:gd name="csX4" fmla="*/ 0 w 2101361"/>
              <a:gd name="csY4" fmla="*/ 8792 h 1248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01361" h="1248507">
                <a:moveTo>
                  <a:pt x="0" y="8792"/>
                </a:moveTo>
                <a:lnTo>
                  <a:pt x="2101361" y="0"/>
                </a:lnTo>
                <a:cubicBezTo>
                  <a:pt x="2101361" y="756138"/>
                  <a:pt x="1239715" y="167054"/>
                  <a:pt x="1143000" y="729761"/>
                </a:cubicBezTo>
                <a:cubicBezTo>
                  <a:pt x="911469" y="1140068"/>
                  <a:pt x="381000" y="1075592"/>
                  <a:pt x="0" y="1248507"/>
                </a:cubicBezTo>
                <a:lnTo>
                  <a:pt x="0" y="879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AE50E1-5F2B-2E85-FC21-6996EE21568D}"/>
              </a:ext>
            </a:extLst>
          </p:cNvPr>
          <p:cNvSpPr txBox="1"/>
          <p:nvPr/>
        </p:nvSpPr>
        <p:spPr>
          <a:xfrm>
            <a:off x="2073519" y="615461"/>
            <a:ext cx="26552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Aptos" panose="020B0004020202020204" pitchFamily="34" charset="0"/>
              </a:rPr>
              <a:t>Solution</a:t>
            </a:r>
            <a:endParaRPr lang="en-IN" sz="48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911F2-40B3-BD50-188E-0881A84E048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91356" y="1183757"/>
            <a:ext cx="8216412" cy="4220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1465A9-E736-3307-509B-4EA5AD8D9B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63203" y="826477"/>
            <a:ext cx="5345723" cy="5029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A28751-9E4E-2550-CE98-566EF7138CF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47376" y="555105"/>
            <a:ext cx="589225" cy="8231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9EB14B-6422-42DC-5B02-CBC3D749B3F9}"/>
              </a:ext>
            </a:extLst>
          </p:cNvPr>
          <p:cNvSpPr txBox="1"/>
          <p:nvPr/>
        </p:nvSpPr>
        <p:spPr>
          <a:xfrm>
            <a:off x="1547375" y="1605788"/>
            <a:ext cx="694599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ptos" panose="020B0004020202020204" pitchFamily="34" charset="0"/>
              </a:rPr>
              <a:t>ShareLife provides a simple online platform to: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Register blood donors.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Aptos" panose="020B00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Store donor information securely.</a:t>
            </a:r>
          </a:p>
          <a:p>
            <a:pPr lvl="0"/>
            <a:r>
              <a:rPr lang="en-IN" sz="2400" dirty="0">
                <a:latin typeface="Aptos" panose="020B0004020202020204" pitchFamily="34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Search donors by blood group. </a:t>
            </a:r>
          </a:p>
          <a:p>
            <a:pPr lvl="0"/>
            <a:endParaRPr lang="en-IN" sz="2400" dirty="0">
              <a:latin typeface="Aptos" panose="020B00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Display available donors instantly.</a:t>
            </a:r>
          </a:p>
          <a:p>
            <a:pPr lvl="0"/>
            <a:r>
              <a:rPr lang="en-IN" sz="2400" dirty="0">
                <a:latin typeface="Aptos" panose="020B0004020202020204" pitchFamily="34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Manage donor records efficiently.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2056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58C3C-C275-A980-EA23-3C56F0AAB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19ED5366-F24E-DD30-5F03-E1459537D79E}"/>
              </a:ext>
            </a:extLst>
          </p:cNvPr>
          <p:cNvSpPr/>
          <p:nvPr/>
        </p:nvSpPr>
        <p:spPr>
          <a:xfrm>
            <a:off x="0" y="5750169"/>
            <a:ext cx="12218377" cy="1107831"/>
          </a:xfrm>
          <a:custGeom>
            <a:avLst/>
            <a:gdLst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218377"/>
              <a:gd name="csY0" fmla="*/ 35169 h 1107831"/>
              <a:gd name="csX1" fmla="*/ 12218377 w 12218377"/>
              <a:gd name="csY1" fmla="*/ 0 h 1107831"/>
              <a:gd name="csX2" fmla="*/ 12192000 w 12218377"/>
              <a:gd name="csY2" fmla="*/ 1107831 h 1107831"/>
              <a:gd name="csX3" fmla="*/ 0 w 12218377"/>
              <a:gd name="csY3" fmla="*/ 1107831 h 1107831"/>
              <a:gd name="csX4" fmla="*/ 0 w 12218377"/>
              <a:gd name="csY4" fmla="*/ 35169 h 11078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218377" h="1107831">
                <a:moveTo>
                  <a:pt x="0" y="35169"/>
                </a:moveTo>
                <a:cubicBezTo>
                  <a:pt x="5031155" y="2409091"/>
                  <a:pt x="8154377" y="0"/>
                  <a:pt x="12218377" y="0"/>
                </a:cubicBezTo>
                <a:lnTo>
                  <a:pt x="12192000" y="1107831"/>
                </a:lnTo>
                <a:lnTo>
                  <a:pt x="0" y="1107831"/>
                </a:lnTo>
                <a:lnTo>
                  <a:pt x="0" y="3516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2794D278-F565-C8A1-9892-2F4502D5305F}"/>
              </a:ext>
            </a:extLst>
          </p:cNvPr>
          <p:cNvSpPr/>
          <p:nvPr/>
        </p:nvSpPr>
        <p:spPr>
          <a:xfrm>
            <a:off x="0" y="-8792"/>
            <a:ext cx="2101361" cy="1248507"/>
          </a:xfrm>
          <a:custGeom>
            <a:avLst/>
            <a:gdLst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2101361"/>
              <a:gd name="csY0" fmla="*/ 8792 h 1248507"/>
              <a:gd name="csX1" fmla="*/ 2101361 w 2101361"/>
              <a:gd name="csY1" fmla="*/ 0 h 1248507"/>
              <a:gd name="csX2" fmla="*/ 1143000 w 2101361"/>
              <a:gd name="csY2" fmla="*/ 729761 h 1248507"/>
              <a:gd name="csX3" fmla="*/ 0 w 2101361"/>
              <a:gd name="csY3" fmla="*/ 1248507 h 1248507"/>
              <a:gd name="csX4" fmla="*/ 0 w 2101361"/>
              <a:gd name="csY4" fmla="*/ 8792 h 1248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01361" h="1248507">
                <a:moveTo>
                  <a:pt x="0" y="8792"/>
                </a:moveTo>
                <a:lnTo>
                  <a:pt x="2101361" y="0"/>
                </a:lnTo>
                <a:cubicBezTo>
                  <a:pt x="2101361" y="756138"/>
                  <a:pt x="1239715" y="167054"/>
                  <a:pt x="1143000" y="729761"/>
                </a:cubicBezTo>
                <a:cubicBezTo>
                  <a:pt x="911469" y="1140068"/>
                  <a:pt x="381000" y="1075592"/>
                  <a:pt x="0" y="1248507"/>
                </a:cubicBezTo>
                <a:lnTo>
                  <a:pt x="0" y="879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BF4C14-9A65-FE14-8830-B06C04330DD3}"/>
              </a:ext>
            </a:extLst>
          </p:cNvPr>
          <p:cNvSpPr txBox="1"/>
          <p:nvPr/>
        </p:nvSpPr>
        <p:spPr>
          <a:xfrm>
            <a:off x="2073519" y="615461"/>
            <a:ext cx="3210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Aptos" panose="020B0004020202020204" pitchFamily="34" charset="0"/>
              </a:rPr>
              <a:t>Objectives</a:t>
            </a:r>
            <a:endParaRPr lang="en-IN" sz="48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E07326-27F2-23D9-1758-7B7C6ED3061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91356" y="1183757"/>
            <a:ext cx="8216412" cy="4220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51779C-43BD-0BCE-908E-08B1C94F06D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47376" y="555105"/>
            <a:ext cx="589225" cy="8231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6D5318-9AFA-655B-1D44-B6C1DCB7AE7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68810" y="1605787"/>
            <a:ext cx="4085641" cy="3687181"/>
          </a:xfrm>
          <a:prstGeom prst="ellipse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5CECFF-C72D-B867-9A78-C52894A3CAA4}"/>
              </a:ext>
            </a:extLst>
          </p:cNvPr>
          <p:cNvSpPr txBox="1"/>
          <p:nvPr/>
        </p:nvSpPr>
        <p:spPr>
          <a:xfrm>
            <a:off x="1468315" y="1605787"/>
            <a:ext cx="580292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Register blood donors online. </a:t>
            </a:r>
          </a:p>
          <a:p>
            <a:pPr lvl="0" algn="just"/>
            <a:endParaRPr lang="en-IN" sz="2400" dirty="0">
              <a:latin typeface="Aptos" panose="020B0004020202020204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Maintain a centralized donor database.</a:t>
            </a:r>
          </a:p>
          <a:p>
            <a:pPr lvl="0" algn="just"/>
            <a:r>
              <a:rPr lang="en-IN" sz="2400" dirty="0">
                <a:latin typeface="Aptos" panose="020B0004020202020204" pitchFamily="34" charset="0"/>
              </a:rPr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Enable quick blood group search. </a:t>
            </a:r>
          </a:p>
          <a:p>
            <a:pPr lvl="0" algn="just"/>
            <a:endParaRPr lang="en-IN" sz="2400" dirty="0">
              <a:latin typeface="Aptos" panose="020B0004020202020204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Improve emergency blood availability.</a:t>
            </a:r>
          </a:p>
          <a:p>
            <a:pPr lvl="0" algn="just"/>
            <a:r>
              <a:rPr lang="en-IN" sz="2400" dirty="0">
                <a:latin typeface="Aptos" panose="020B0004020202020204" pitchFamily="34" charset="0"/>
              </a:rPr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Provide an easy-to-use system for users</a:t>
            </a:r>
            <a:r>
              <a:rPr lang="en-IN" dirty="0"/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2834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0CAC3-6DE5-D7B7-BB13-C968A9B57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1245E6CC-466C-DD9C-80E4-7A8A4EB7D512}"/>
              </a:ext>
            </a:extLst>
          </p:cNvPr>
          <p:cNvSpPr/>
          <p:nvPr/>
        </p:nvSpPr>
        <p:spPr>
          <a:xfrm>
            <a:off x="0" y="5750169"/>
            <a:ext cx="12218377" cy="1107831"/>
          </a:xfrm>
          <a:custGeom>
            <a:avLst/>
            <a:gdLst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218377"/>
              <a:gd name="csY0" fmla="*/ 35169 h 1107831"/>
              <a:gd name="csX1" fmla="*/ 12218377 w 12218377"/>
              <a:gd name="csY1" fmla="*/ 0 h 1107831"/>
              <a:gd name="csX2" fmla="*/ 12192000 w 12218377"/>
              <a:gd name="csY2" fmla="*/ 1107831 h 1107831"/>
              <a:gd name="csX3" fmla="*/ 0 w 12218377"/>
              <a:gd name="csY3" fmla="*/ 1107831 h 1107831"/>
              <a:gd name="csX4" fmla="*/ 0 w 12218377"/>
              <a:gd name="csY4" fmla="*/ 35169 h 11078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218377" h="1107831">
                <a:moveTo>
                  <a:pt x="0" y="35169"/>
                </a:moveTo>
                <a:cubicBezTo>
                  <a:pt x="5031155" y="2409091"/>
                  <a:pt x="8154377" y="0"/>
                  <a:pt x="12218377" y="0"/>
                </a:cubicBezTo>
                <a:lnTo>
                  <a:pt x="12192000" y="1107831"/>
                </a:lnTo>
                <a:lnTo>
                  <a:pt x="0" y="1107831"/>
                </a:lnTo>
                <a:lnTo>
                  <a:pt x="0" y="3516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6534CA2C-FD50-298E-73CF-054E7460F20F}"/>
              </a:ext>
            </a:extLst>
          </p:cNvPr>
          <p:cNvSpPr/>
          <p:nvPr/>
        </p:nvSpPr>
        <p:spPr>
          <a:xfrm>
            <a:off x="0" y="-8792"/>
            <a:ext cx="2101361" cy="1248507"/>
          </a:xfrm>
          <a:custGeom>
            <a:avLst/>
            <a:gdLst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2101361"/>
              <a:gd name="csY0" fmla="*/ 8792 h 1248507"/>
              <a:gd name="csX1" fmla="*/ 2101361 w 2101361"/>
              <a:gd name="csY1" fmla="*/ 0 h 1248507"/>
              <a:gd name="csX2" fmla="*/ 1143000 w 2101361"/>
              <a:gd name="csY2" fmla="*/ 729761 h 1248507"/>
              <a:gd name="csX3" fmla="*/ 0 w 2101361"/>
              <a:gd name="csY3" fmla="*/ 1248507 h 1248507"/>
              <a:gd name="csX4" fmla="*/ 0 w 2101361"/>
              <a:gd name="csY4" fmla="*/ 8792 h 1248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01361" h="1248507">
                <a:moveTo>
                  <a:pt x="0" y="8792"/>
                </a:moveTo>
                <a:lnTo>
                  <a:pt x="2101361" y="0"/>
                </a:lnTo>
                <a:cubicBezTo>
                  <a:pt x="2101361" y="756138"/>
                  <a:pt x="1239715" y="167054"/>
                  <a:pt x="1143000" y="729761"/>
                </a:cubicBezTo>
                <a:cubicBezTo>
                  <a:pt x="911469" y="1140068"/>
                  <a:pt x="381000" y="1075592"/>
                  <a:pt x="0" y="1248507"/>
                </a:cubicBezTo>
                <a:lnTo>
                  <a:pt x="0" y="879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6433A-0425-267C-D789-CC7F5D8AE92A}"/>
              </a:ext>
            </a:extLst>
          </p:cNvPr>
          <p:cNvSpPr txBox="1"/>
          <p:nvPr/>
        </p:nvSpPr>
        <p:spPr>
          <a:xfrm>
            <a:off x="2073519" y="615461"/>
            <a:ext cx="3210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Aptos" panose="020B0004020202020204" pitchFamily="34" charset="0"/>
              </a:rPr>
              <a:t>Features</a:t>
            </a:r>
            <a:endParaRPr lang="en-IN" sz="48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25910D-4A6D-691B-D1B0-BC765D4C3DF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91356" y="1183757"/>
            <a:ext cx="8216412" cy="4220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04FCB6-C8EA-89A3-2774-A074898252A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47376" y="555105"/>
            <a:ext cx="589225" cy="8231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2AC4E6-4021-13B2-AB2F-AB31D6CA7FF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8342" y="-395654"/>
            <a:ext cx="11790484" cy="73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219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59FE2-5E92-D351-AC9B-B2DE0B509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44D97552-6349-8C6E-BD9C-65D816EE4942}"/>
              </a:ext>
            </a:extLst>
          </p:cNvPr>
          <p:cNvSpPr/>
          <p:nvPr/>
        </p:nvSpPr>
        <p:spPr>
          <a:xfrm>
            <a:off x="0" y="5750169"/>
            <a:ext cx="12218377" cy="1107831"/>
          </a:xfrm>
          <a:custGeom>
            <a:avLst/>
            <a:gdLst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218377"/>
              <a:gd name="csY0" fmla="*/ 35169 h 1107831"/>
              <a:gd name="csX1" fmla="*/ 12218377 w 12218377"/>
              <a:gd name="csY1" fmla="*/ 0 h 1107831"/>
              <a:gd name="csX2" fmla="*/ 12192000 w 12218377"/>
              <a:gd name="csY2" fmla="*/ 1107831 h 1107831"/>
              <a:gd name="csX3" fmla="*/ 0 w 12218377"/>
              <a:gd name="csY3" fmla="*/ 1107831 h 1107831"/>
              <a:gd name="csX4" fmla="*/ 0 w 12218377"/>
              <a:gd name="csY4" fmla="*/ 35169 h 11078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218377" h="1107831">
                <a:moveTo>
                  <a:pt x="0" y="35169"/>
                </a:moveTo>
                <a:cubicBezTo>
                  <a:pt x="5031155" y="2409091"/>
                  <a:pt x="8154377" y="0"/>
                  <a:pt x="12218377" y="0"/>
                </a:cubicBezTo>
                <a:lnTo>
                  <a:pt x="12192000" y="1107831"/>
                </a:lnTo>
                <a:lnTo>
                  <a:pt x="0" y="1107831"/>
                </a:lnTo>
                <a:lnTo>
                  <a:pt x="0" y="3516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61FA2B4C-7B11-CDC6-FA78-A265DE35DED3}"/>
              </a:ext>
            </a:extLst>
          </p:cNvPr>
          <p:cNvSpPr/>
          <p:nvPr/>
        </p:nvSpPr>
        <p:spPr>
          <a:xfrm>
            <a:off x="0" y="-8792"/>
            <a:ext cx="2101361" cy="1248507"/>
          </a:xfrm>
          <a:custGeom>
            <a:avLst/>
            <a:gdLst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2101361"/>
              <a:gd name="csY0" fmla="*/ 8792 h 1248507"/>
              <a:gd name="csX1" fmla="*/ 2101361 w 2101361"/>
              <a:gd name="csY1" fmla="*/ 0 h 1248507"/>
              <a:gd name="csX2" fmla="*/ 1143000 w 2101361"/>
              <a:gd name="csY2" fmla="*/ 729761 h 1248507"/>
              <a:gd name="csX3" fmla="*/ 0 w 2101361"/>
              <a:gd name="csY3" fmla="*/ 1248507 h 1248507"/>
              <a:gd name="csX4" fmla="*/ 0 w 2101361"/>
              <a:gd name="csY4" fmla="*/ 8792 h 1248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01361" h="1248507">
                <a:moveTo>
                  <a:pt x="0" y="8792"/>
                </a:moveTo>
                <a:lnTo>
                  <a:pt x="2101361" y="0"/>
                </a:lnTo>
                <a:cubicBezTo>
                  <a:pt x="2101361" y="756138"/>
                  <a:pt x="1239715" y="167054"/>
                  <a:pt x="1143000" y="729761"/>
                </a:cubicBezTo>
                <a:cubicBezTo>
                  <a:pt x="911469" y="1140068"/>
                  <a:pt x="381000" y="1075592"/>
                  <a:pt x="0" y="1248507"/>
                </a:cubicBezTo>
                <a:lnTo>
                  <a:pt x="0" y="879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DD62F1-3968-BF79-9711-A75F44196DD5}"/>
              </a:ext>
            </a:extLst>
          </p:cNvPr>
          <p:cNvSpPr txBox="1"/>
          <p:nvPr/>
        </p:nvSpPr>
        <p:spPr>
          <a:xfrm>
            <a:off x="2073519" y="615461"/>
            <a:ext cx="49075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Aptos" panose="020B0004020202020204" pitchFamily="34" charset="0"/>
              </a:rPr>
              <a:t>Technology Used</a:t>
            </a:r>
            <a:endParaRPr lang="en-IN" sz="48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EF6ADC-BB44-4B45-58EF-8299576CE4C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91356" y="1183757"/>
            <a:ext cx="8216412" cy="4220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4EF7EF-3E7C-B5F9-B0A7-07CF8318172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47376" y="555105"/>
            <a:ext cx="589225" cy="8231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9841E9-BE8F-353D-D0D4-49525240059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53528" y="1865376"/>
            <a:ext cx="6190488" cy="409153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E8A8085-E4AB-ABA7-E467-CF80B5925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900653"/>
              </p:ext>
            </p:extLst>
          </p:nvPr>
        </p:nvGraphicFramePr>
        <p:xfrm>
          <a:off x="650631" y="1841813"/>
          <a:ext cx="8361484" cy="3200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168725">
                  <a:extLst>
                    <a:ext uri="{9D8B030D-6E8A-4147-A177-3AD203B41FA5}">
                      <a16:colId xmlns:a16="http://schemas.microsoft.com/office/drawing/2014/main" val="2861585757"/>
                    </a:ext>
                  </a:extLst>
                </a:gridCol>
                <a:gridCol w="5192759">
                  <a:extLst>
                    <a:ext uri="{9D8B030D-6E8A-4147-A177-3AD203B41FA5}">
                      <a16:colId xmlns:a16="http://schemas.microsoft.com/office/drawing/2014/main" val="19178576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Aptos" panose="020B0004020202020204" pitchFamily="34" charset="0"/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Aptos" panose="020B0004020202020204" pitchFamily="34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4064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ASP.NET Web Forms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Frontend &amp; Backend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637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C#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Server-side Programming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1241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SQL Server (LocalDB)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3915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ADO.NET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Database Connectivity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9529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HTML &amp; CSS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User Interface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3676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Visual Studio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ptos" panose="020B0004020202020204" pitchFamily="34" charset="0"/>
                        </a:rPr>
                        <a:t>Development Environment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5703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6943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9E4F8-D3DA-9152-BE6E-D12F41F65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09019E32-7027-2ECB-E4E4-DD387F30BCFA}"/>
              </a:ext>
            </a:extLst>
          </p:cNvPr>
          <p:cNvSpPr/>
          <p:nvPr/>
        </p:nvSpPr>
        <p:spPr>
          <a:xfrm>
            <a:off x="0" y="5750169"/>
            <a:ext cx="12218377" cy="1107831"/>
          </a:xfrm>
          <a:custGeom>
            <a:avLst/>
            <a:gdLst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218377"/>
              <a:gd name="csY0" fmla="*/ 35169 h 1107831"/>
              <a:gd name="csX1" fmla="*/ 12218377 w 12218377"/>
              <a:gd name="csY1" fmla="*/ 0 h 1107831"/>
              <a:gd name="csX2" fmla="*/ 12192000 w 12218377"/>
              <a:gd name="csY2" fmla="*/ 1107831 h 1107831"/>
              <a:gd name="csX3" fmla="*/ 0 w 12218377"/>
              <a:gd name="csY3" fmla="*/ 1107831 h 1107831"/>
              <a:gd name="csX4" fmla="*/ 0 w 12218377"/>
              <a:gd name="csY4" fmla="*/ 35169 h 11078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218377" h="1107831">
                <a:moveTo>
                  <a:pt x="0" y="35169"/>
                </a:moveTo>
                <a:cubicBezTo>
                  <a:pt x="5031155" y="2409091"/>
                  <a:pt x="8154377" y="0"/>
                  <a:pt x="12218377" y="0"/>
                </a:cubicBezTo>
                <a:lnTo>
                  <a:pt x="12192000" y="1107831"/>
                </a:lnTo>
                <a:lnTo>
                  <a:pt x="0" y="1107831"/>
                </a:lnTo>
                <a:lnTo>
                  <a:pt x="0" y="3516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ACA4002A-029E-26E3-F262-1D97D08BC777}"/>
              </a:ext>
            </a:extLst>
          </p:cNvPr>
          <p:cNvSpPr/>
          <p:nvPr/>
        </p:nvSpPr>
        <p:spPr>
          <a:xfrm>
            <a:off x="0" y="-8792"/>
            <a:ext cx="2101361" cy="1248507"/>
          </a:xfrm>
          <a:custGeom>
            <a:avLst/>
            <a:gdLst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2101361"/>
              <a:gd name="csY0" fmla="*/ 8792 h 1248507"/>
              <a:gd name="csX1" fmla="*/ 2101361 w 2101361"/>
              <a:gd name="csY1" fmla="*/ 0 h 1248507"/>
              <a:gd name="csX2" fmla="*/ 1143000 w 2101361"/>
              <a:gd name="csY2" fmla="*/ 729761 h 1248507"/>
              <a:gd name="csX3" fmla="*/ 0 w 2101361"/>
              <a:gd name="csY3" fmla="*/ 1248507 h 1248507"/>
              <a:gd name="csX4" fmla="*/ 0 w 2101361"/>
              <a:gd name="csY4" fmla="*/ 8792 h 1248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01361" h="1248507">
                <a:moveTo>
                  <a:pt x="0" y="8792"/>
                </a:moveTo>
                <a:lnTo>
                  <a:pt x="2101361" y="0"/>
                </a:lnTo>
                <a:cubicBezTo>
                  <a:pt x="2101361" y="756138"/>
                  <a:pt x="1239715" y="167054"/>
                  <a:pt x="1143000" y="729761"/>
                </a:cubicBezTo>
                <a:cubicBezTo>
                  <a:pt x="911469" y="1140068"/>
                  <a:pt x="381000" y="1075592"/>
                  <a:pt x="0" y="1248507"/>
                </a:cubicBezTo>
                <a:lnTo>
                  <a:pt x="0" y="879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F04CB5-A1AC-1C50-8B54-F2C8E0E17964}"/>
              </a:ext>
            </a:extLst>
          </p:cNvPr>
          <p:cNvSpPr txBox="1"/>
          <p:nvPr/>
        </p:nvSpPr>
        <p:spPr>
          <a:xfrm>
            <a:off x="2073519" y="615461"/>
            <a:ext cx="28941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Aptos" panose="020B0004020202020204" pitchFamily="34" charset="0"/>
              </a:rPr>
              <a:t>Database</a:t>
            </a:r>
            <a:endParaRPr lang="en-IN" sz="48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6DCB17-693B-3BAE-68E4-E04DB89B6BC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91356" y="1183757"/>
            <a:ext cx="8216412" cy="4220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8CFA19-B00C-87D4-617C-C3F60B6525F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47376" y="555105"/>
            <a:ext cx="589225" cy="8231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C1F31E-CDE1-92B8-E6C6-73E57BB5DDB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53754" y="1521069"/>
            <a:ext cx="4249615" cy="4409886"/>
          </a:xfrm>
          <a:prstGeom prst="ellipse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CAC1554-A876-7612-66C9-77FBF0960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394608"/>
              </p:ext>
            </p:extLst>
          </p:nvPr>
        </p:nvGraphicFramePr>
        <p:xfrm>
          <a:off x="1233860" y="2976106"/>
          <a:ext cx="7646378" cy="3200400"/>
        </p:xfrm>
        <a:graphic>
          <a:graphicData uri="http://schemas.openxmlformats.org/drawingml/2006/table">
            <a:tbl>
              <a:tblPr/>
              <a:tblGrid>
                <a:gridCol w="3823189">
                  <a:extLst>
                    <a:ext uri="{9D8B030D-6E8A-4147-A177-3AD203B41FA5}">
                      <a16:colId xmlns:a16="http://schemas.microsoft.com/office/drawing/2014/main" val="889792478"/>
                    </a:ext>
                  </a:extLst>
                </a:gridCol>
                <a:gridCol w="3823189">
                  <a:extLst>
                    <a:ext uri="{9D8B030D-6E8A-4147-A177-3AD203B41FA5}">
                      <a16:colId xmlns:a16="http://schemas.microsoft.com/office/drawing/2014/main" val="217821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Aptos" panose="020B0004020202020204" pitchFamily="34" charset="0"/>
                        </a:rPr>
                        <a:t>Column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Aptos" panose="020B0004020202020204" pitchFamily="34" charset="0"/>
                        </a:rPr>
                        <a:t>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461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DonorID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INT (PK)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606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VARCHAR(50)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892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075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BloodGroup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VARCHAR(5)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46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Mobile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VARCHAR(15)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70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ptos" panose="020B0004020202020204" pitchFamily="34" charset="0"/>
                        </a:rPr>
                        <a:t>VARCHAR(50)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71039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038EFCE-D9EC-54AB-B76A-450BEAB42E66}"/>
              </a:ext>
            </a:extLst>
          </p:cNvPr>
          <p:cNvSpPr txBox="1"/>
          <p:nvPr/>
        </p:nvSpPr>
        <p:spPr>
          <a:xfrm>
            <a:off x="1292397" y="1605788"/>
            <a:ext cx="414124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Database Name</a:t>
            </a:r>
          </a:p>
          <a:p>
            <a:r>
              <a:rPr lang="en-IN" sz="2000" dirty="0" err="1"/>
              <a:t>BloodDonorDB</a:t>
            </a:r>
            <a:endParaRPr lang="en-IN" sz="2000" dirty="0"/>
          </a:p>
          <a:p>
            <a:r>
              <a:rPr lang="en-IN" sz="2000" b="1" dirty="0"/>
              <a:t>Table Name</a:t>
            </a:r>
          </a:p>
          <a:p>
            <a:r>
              <a:rPr lang="en-IN" sz="2000" dirty="0"/>
              <a:t>Donor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6429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693CD-A0EB-F4A0-80AA-BD0694EC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BE87D58B-4B3C-4431-1B1A-1895B6933C96}"/>
              </a:ext>
            </a:extLst>
          </p:cNvPr>
          <p:cNvSpPr/>
          <p:nvPr/>
        </p:nvSpPr>
        <p:spPr>
          <a:xfrm>
            <a:off x="0" y="5750169"/>
            <a:ext cx="12218377" cy="1107831"/>
          </a:xfrm>
          <a:custGeom>
            <a:avLst/>
            <a:gdLst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218377"/>
              <a:gd name="csY0" fmla="*/ 35169 h 1107831"/>
              <a:gd name="csX1" fmla="*/ 12218377 w 12218377"/>
              <a:gd name="csY1" fmla="*/ 0 h 1107831"/>
              <a:gd name="csX2" fmla="*/ 12192000 w 12218377"/>
              <a:gd name="csY2" fmla="*/ 1107831 h 1107831"/>
              <a:gd name="csX3" fmla="*/ 0 w 12218377"/>
              <a:gd name="csY3" fmla="*/ 1107831 h 1107831"/>
              <a:gd name="csX4" fmla="*/ 0 w 12218377"/>
              <a:gd name="csY4" fmla="*/ 35169 h 11078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218377" h="1107831">
                <a:moveTo>
                  <a:pt x="0" y="35169"/>
                </a:moveTo>
                <a:cubicBezTo>
                  <a:pt x="5031155" y="2409091"/>
                  <a:pt x="8154377" y="0"/>
                  <a:pt x="12218377" y="0"/>
                </a:cubicBezTo>
                <a:lnTo>
                  <a:pt x="12192000" y="1107831"/>
                </a:lnTo>
                <a:lnTo>
                  <a:pt x="0" y="1107831"/>
                </a:lnTo>
                <a:lnTo>
                  <a:pt x="0" y="3516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41520E8F-316A-94D5-9C62-1043E8407475}"/>
              </a:ext>
            </a:extLst>
          </p:cNvPr>
          <p:cNvSpPr/>
          <p:nvPr/>
        </p:nvSpPr>
        <p:spPr>
          <a:xfrm>
            <a:off x="0" y="-8792"/>
            <a:ext cx="2101361" cy="1248507"/>
          </a:xfrm>
          <a:custGeom>
            <a:avLst/>
            <a:gdLst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2101361"/>
              <a:gd name="csY0" fmla="*/ 8792 h 1248507"/>
              <a:gd name="csX1" fmla="*/ 2101361 w 2101361"/>
              <a:gd name="csY1" fmla="*/ 0 h 1248507"/>
              <a:gd name="csX2" fmla="*/ 1143000 w 2101361"/>
              <a:gd name="csY2" fmla="*/ 729761 h 1248507"/>
              <a:gd name="csX3" fmla="*/ 0 w 2101361"/>
              <a:gd name="csY3" fmla="*/ 1248507 h 1248507"/>
              <a:gd name="csX4" fmla="*/ 0 w 2101361"/>
              <a:gd name="csY4" fmla="*/ 8792 h 1248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01361" h="1248507">
                <a:moveTo>
                  <a:pt x="0" y="8792"/>
                </a:moveTo>
                <a:lnTo>
                  <a:pt x="2101361" y="0"/>
                </a:lnTo>
                <a:cubicBezTo>
                  <a:pt x="2101361" y="756138"/>
                  <a:pt x="1239715" y="167054"/>
                  <a:pt x="1143000" y="729761"/>
                </a:cubicBezTo>
                <a:cubicBezTo>
                  <a:pt x="911469" y="1140068"/>
                  <a:pt x="381000" y="1075592"/>
                  <a:pt x="0" y="1248507"/>
                </a:cubicBezTo>
                <a:lnTo>
                  <a:pt x="0" y="879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92384A-4156-C69E-0011-5CDA4DE13589}"/>
              </a:ext>
            </a:extLst>
          </p:cNvPr>
          <p:cNvSpPr txBox="1"/>
          <p:nvPr/>
        </p:nvSpPr>
        <p:spPr>
          <a:xfrm>
            <a:off x="2073519" y="615461"/>
            <a:ext cx="5162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Aptos" panose="020B0004020202020204" pitchFamily="34" charset="0"/>
              </a:rPr>
              <a:t>System Workflow</a:t>
            </a:r>
            <a:endParaRPr lang="en-IN" sz="48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79DC90-E575-6CC9-28D2-19247424A0B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91356" y="1183757"/>
            <a:ext cx="8216412" cy="4220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A97D3B-4649-C858-2E64-FFDECA89F5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47376" y="555105"/>
            <a:ext cx="589225" cy="8231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02BFE5-CFB2-F45F-DFFF-C77EE7F8141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58412" y="1446458"/>
            <a:ext cx="9475177" cy="522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515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54499-7235-2594-E9AC-6431DF5EE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152503F2-2DE6-7855-B1DD-822B009244B7}"/>
              </a:ext>
            </a:extLst>
          </p:cNvPr>
          <p:cNvSpPr/>
          <p:nvPr/>
        </p:nvSpPr>
        <p:spPr>
          <a:xfrm>
            <a:off x="0" y="5750169"/>
            <a:ext cx="12218377" cy="1107831"/>
          </a:xfrm>
          <a:custGeom>
            <a:avLst/>
            <a:gdLst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218377"/>
              <a:gd name="csY0" fmla="*/ 35169 h 1107831"/>
              <a:gd name="csX1" fmla="*/ 12218377 w 12218377"/>
              <a:gd name="csY1" fmla="*/ 0 h 1107831"/>
              <a:gd name="csX2" fmla="*/ 12192000 w 12218377"/>
              <a:gd name="csY2" fmla="*/ 1107831 h 1107831"/>
              <a:gd name="csX3" fmla="*/ 0 w 12218377"/>
              <a:gd name="csY3" fmla="*/ 1107831 h 1107831"/>
              <a:gd name="csX4" fmla="*/ 0 w 12218377"/>
              <a:gd name="csY4" fmla="*/ 35169 h 11078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218377" h="1107831">
                <a:moveTo>
                  <a:pt x="0" y="35169"/>
                </a:moveTo>
                <a:cubicBezTo>
                  <a:pt x="5031155" y="2409091"/>
                  <a:pt x="8154377" y="0"/>
                  <a:pt x="12218377" y="0"/>
                </a:cubicBezTo>
                <a:lnTo>
                  <a:pt x="12192000" y="1107831"/>
                </a:lnTo>
                <a:lnTo>
                  <a:pt x="0" y="1107831"/>
                </a:lnTo>
                <a:lnTo>
                  <a:pt x="0" y="3516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C05B0BDD-637D-F313-5C28-9C7CDEC85970}"/>
              </a:ext>
            </a:extLst>
          </p:cNvPr>
          <p:cNvSpPr/>
          <p:nvPr/>
        </p:nvSpPr>
        <p:spPr>
          <a:xfrm>
            <a:off x="0" y="-8792"/>
            <a:ext cx="2101361" cy="1248507"/>
          </a:xfrm>
          <a:custGeom>
            <a:avLst/>
            <a:gdLst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2101361"/>
              <a:gd name="csY0" fmla="*/ 8792 h 1248507"/>
              <a:gd name="csX1" fmla="*/ 2101361 w 2101361"/>
              <a:gd name="csY1" fmla="*/ 0 h 1248507"/>
              <a:gd name="csX2" fmla="*/ 1143000 w 2101361"/>
              <a:gd name="csY2" fmla="*/ 729761 h 1248507"/>
              <a:gd name="csX3" fmla="*/ 0 w 2101361"/>
              <a:gd name="csY3" fmla="*/ 1248507 h 1248507"/>
              <a:gd name="csX4" fmla="*/ 0 w 2101361"/>
              <a:gd name="csY4" fmla="*/ 8792 h 1248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01361" h="1248507">
                <a:moveTo>
                  <a:pt x="0" y="8792"/>
                </a:moveTo>
                <a:lnTo>
                  <a:pt x="2101361" y="0"/>
                </a:lnTo>
                <a:cubicBezTo>
                  <a:pt x="2101361" y="756138"/>
                  <a:pt x="1239715" y="167054"/>
                  <a:pt x="1143000" y="729761"/>
                </a:cubicBezTo>
                <a:cubicBezTo>
                  <a:pt x="911469" y="1140068"/>
                  <a:pt x="381000" y="1075592"/>
                  <a:pt x="0" y="1248507"/>
                </a:cubicBezTo>
                <a:lnTo>
                  <a:pt x="0" y="879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D8FEC7-2E7B-9285-6C65-1EAEF904E868}"/>
              </a:ext>
            </a:extLst>
          </p:cNvPr>
          <p:cNvSpPr txBox="1"/>
          <p:nvPr/>
        </p:nvSpPr>
        <p:spPr>
          <a:xfrm>
            <a:off x="2073519" y="615461"/>
            <a:ext cx="35887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Aptos" panose="020B0004020202020204" pitchFamily="34" charset="0"/>
              </a:rPr>
              <a:t>Advantages</a:t>
            </a:r>
            <a:endParaRPr lang="en-IN" sz="48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AB88F7-CE98-9F36-D8F0-032660F0261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91356" y="1183757"/>
            <a:ext cx="8216412" cy="4220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053E66-02BC-5D3F-648E-743B3305F16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47376" y="555105"/>
            <a:ext cx="589225" cy="8231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C118F6-B234-B7C4-3E43-E524EFAEF563}"/>
              </a:ext>
            </a:extLst>
          </p:cNvPr>
          <p:cNvSpPr txBox="1"/>
          <p:nvPr/>
        </p:nvSpPr>
        <p:spPr>
          <a:xfrm>
            <a:off x="1547376" y="1696915"/>
            <a:ext cx="5108401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Easy donor registration. 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Fast blood group search.</a:t>
            </a:r>
          </a:p>
          <a:p>
            <a:pPr lvl="0"/>
            <a:r>
              <a:rPr lang="en-IN" sz="2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Centralized donor management.</a:t>
            </a:r>
          </a:p>
          <a:p>
            <a:pPr lvl="0"/>
            <a:r>
              <a:rPr lang="en-IN" sz="2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User-friendly interface. 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Saves time during emergencies.</a:t>
            </a:r>
          </a:p>
          <a:p>
            <a:pPr lvl="0"/>
            <a:r>
              <a:rPr lang="en-IN" sz="2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Reliable donor information.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1DE903-7A8B-D680-39CF-227367E8BF4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0565" y="422735"/>
            <a:ext cx="8340969" cy="556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727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73D12-0A35-5F11-512F-923DA7C47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544BBF00-453B-63AB-7144-C0F403FC259C}"/>
              </a:ext>
            </a:extLst>
          </p:cNvPr>
          <p:cNvSpPr/>
          <p:nvPr/>
        </p:nvSpPr>
        <p:spPr>
          <a:xfrm>
            <a:off x="0" y="5750169"/>
            <a:ext cx="12218377" cy="1107831"/>
          </a:xfrm>
          <a:custGeom>
            <a:avLst/>
            <a:gdLst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218377"/>
              <a:gd name="csY0" fmla="*/ 35169 h 1107831"/>
              <a:gd name="csX1" fmla="*/ 12218377 w 12218377"/>
              <a:gd name="csY1" fmla="*/ 0 h 1107831"/>
              <a:gd name="csX2" fmla="*/ 12192000 w 12218377"/>
              <a:gd name="csY2" fmla="*/ 1107831 h 1107831"/>
              <a:gd name="csX3" fmla="*/ 0 w 12218377"/>
              <a:gd name="csY3" fmla="*/ 1107831 h 1107831"/>
              <a:gd name="csX4" fmla="*/ 0 w 12218377"/>
              <a:gd name="csY4" fmla="*/ 35169 h 11078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218377" h="1107831">
                <a:moveTo>
                  <a:pt x="0" y="35169"/>
                </a:moveTo>
                <a:cubicBezTo>
                  <a:pt x="5031155" y="2409091"/>
                  <a:pt x="8154377" y="0"/>
                  <a:pt x="12218377" y="0"/>
                </a:cubicBezTo>
                <a:lnTo>
                  <a:pt x="12192000" y="1107831"/>
                </a:lnTo>
                <a:lnTo>
                  <a:pt x="0" y="1107831"/>
                </a:lnTo>
                <a:lnTo>
                  <a:pt x="0" y="3516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03E656F9-4976-F3C7-F5B1-216E8343E5F2}"/>
              </a:ext>
            </a:extLst>
          </p:cNvPr>
          <p:cNvSpPr/>
          <p:nvPr/>
        </p:nvSpPr>
        <p:spPr>
          <a:xfrm>
            <a:off x="0" y="-8792"/>
            <a:ext cx="2101361" cy="1248507"/>
          </a:xfrm>
          <a:custGeom>
            <a:avLst/>
            <a:gdLst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2101361"/>
              <a:gd name="csY0" fmla="*/ 8792 h 1248507"/>
              <a:gd name="csX1" fmla="*/ 2101361 w 2101361"/>
              <a:gd name="csY1" fmla="*/ 0 h 1248507"/>
              <a:gd name="csX2" fmla="*/ 1143000 w 2101361"/>
              <a:gd name="csY2" fmla="*/ 729761 h 1248507"/>
              <a:gd name="csX3" fmla="*/ 0 w 2101361"/>
              <a:gd name="csY3" fmla="*/ 1248507 h 1248507"/>
              <a:gd name="csX4" fmla="*/ 0 w 2101361"/>
              <a:gd name="csY4" fmla="*/ 8792 h 1248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01361" h="1248507">
                <a:moveTo>
                  <a:pt x="0" y="8792"/>
                </a:moveTo>
                <a:lnTo>
                  <a:pt x="2101361" y="0"/>
                </a:lnTo>
                <a:cubicBezTo>
                  <a:pt x="2101361" y="756138"/>
                  <a:pt x="1239715" y="167054"/>
                  <a:pt x="1143000" y="729761"/>
                </a:cubicBezTo>
                <a:cubicBezTo>
                  <a:pt x="911469" y="1140068"/>
                  <a:pt x="381000" y="1075592"/>
                  <a:pt x="0" y="1248507"/>
                </a:cubicBezTo>
                <a:lnTo>
                  <a:pt x="0" y="879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AC2D10-A384-0B9D-43B3-50B3B2505B7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77108" y="-72477"/>
            <a:ext cx="9237785" cy="615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749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29CB8-2F96-0A79-359E-0A429A60A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8FDE7D53-CABF-491C-5212-C94B6C65D9FA}"/>
              </a:ext>
            </a:extLst>
          </p:cNvPr>
          <p:cNvSpPr/>
          <p:nvPr/>
        </p:nvSpPr>
        <p:spPr>
          <a:xfrm>
            <a:off x="0" y="5750169"/>
            <a:ext cx="12218377" cy="1107831"/>
          </a:xfrm>
          <a:custGeom>
            <a:avLst/>
            <a:gdLst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218377"/>
              <a:gd name="csY0" fmla="*/ 35169 h 1107831"/>
              <a:gd name="csX1" fmla="*/ 12218377 w 12218377"/>
              <a:gd name="csY1" fmla="*/ 0 h 1107831"/>
              <a:gd name="csX2" fmla="*/ 12192000 w 12218377"/>
              <a:gd name="csY2" fmla="*/ 1107831 h 1107831"/>
              <a:gd name="csX3" fmla="*/ 0 w 12218377"/>
              <a:gd name="csY3" fmla="*/ 1107831 h 1107831"/>
              <a:gd name="csX4" fmla="*/ 0 w 12218377"/>
              <a:gd name="csY4" fmla="*/ 35169 h 11078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218377" h="1107831">
                <a:moveTo>
                  <a:pt x="0" y="35169"/>
                </a:moveTo>
                <a:cubicBezTo>
                  <a:pt x="5031155" y="2409091"/>
                  <a:pt x="8154377" y="0"/>
                  <a:pt x="12218377" y="0"/>
                </a:cubicBezTo>
                <a:lnTo>
                  <a:pt x="12192000" y="1107831"/>
                </a:lnTo>
                <a:lnTo>
                  <a:pt x="0" y="1107831"/>
                </a:lnTo>
                <a:lnTo>
                  <a:pt x="0" y="3516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20A1F435-73C1-72D4-BCFD-4AC0712EAF17}"/>
              </a:ext>
            </a:extLst>
          </p:cNvPr>
          <p:cNvSpPr/>
          <p:nvPr/>
        </p:nvSpPr>
        <p:spPr>
          <a:xfrm>
            <a:off x="0" y="-8792"/>
            <a:ext cx="2101361" cy="1248507"/>
          </a:xfrm>
          <a:custGeom>
            <a:avLst/>
            <a:gdLst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2101361"/>
              <a:gd name="csY0" fmla="*/ 8792 h 1248507"/>
              <a:gd name="csX1" fmla="*/ 2101361 w 2101361"/>
              <a:gd name="csY1" fmla="*/ 0 h 1248507"/>
              <a:gd name="csX2" fmla="*/ 1143000 w 2101361"/>
              <a:gd name="csY2" fmla="*/ 729761 h 1248507"/>
              <a:gd name="csX3" fmla="*/ 0 w 2101361"/>
              <a:gd name="csY3" fmla="*/ 1248507 h 1248507"/>
              <a:gd name="csX4" fmla="*/ 0 w 2101361"/>
              <a:gd name="csY4" fmla="*/ 8792 h 1248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01361" h="1248507">
                <a:moveTo>
                  <a:pt x="0" y="8792"/>
                </a:moveTo>
                <a:lnTo>
                  <a:pt x="2101361" y="0"/>
                </a:lnTo>
                <a:cubicBezTo>
                  <a:pt x="2101361" y="756138"/>
                  <a:pt x="1239715" y="167054"/>
                  <a:pt x="1143000" y="729761"/>
                </a:cubicBezTo>
                <a:cubicBezTo>
                  <a:pt x="911469" y="1140068"/>
                  <a:pt x="381000" y="1075592"/>
                  <a:pt x="0" y="1248507"/>
                </a:cubicBezTo>
                <a:lnTo>
                  <a:pt x="0" y="879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224C21-9B74-0492-1466-B8F8C4CF2132}"/>
              </a:ext>
            </a:extLst>
          </p:cNvPr>
          <p:cNvSpPr txBox="1"/>
          <p:nvPr/>
        </p:nvSpPr>
        <p:spPr>
          <a:xfrm>
            <a:off x="2073519" y="615461"/>
            <a:ext cx="35887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Aptos" panose="020B0004020202020204" pitchFamily="34" charset="0"/>
              </a:rPr>
              <a:t>Conclusion</a:t>
            </a:r>
            <a:endParaRPr lang="en-IN" sz="48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96C257-5386-036E-A71B-D0DB43A2985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91356" y="1183757"/>
            <a:ext cx="8216412" cy="4220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3B9A44-D63F-1633-5660-497BD726241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47376" y="555105"/>
            <a:ext cx="589225" cy="8231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20476D-540D-F375-5500-EC4C0774C8A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7852" y="1693574"/>
            <a:ext cx="5404104" cy="36027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3409D9-B4B5-07A7-892C-8FEA4CE43882}"/>
              </a:ext>
            </a:extLst>
          </p:cNvPr>
          <p:cNvSpPr txBox="1"/>
          <p:nvPr/>
        </p:nvSpPr>
        <p:spPr>
          <a:xfrm>
            <a:off x="1547376" y="1790420"/>
            <a:ext cx="519632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dirty="0"/>
              <a:t>ShareLife is a simple and efficient Blood Donor Management System developed using ASP.NET Web Forms, C#, SQL Server, and ADO.NET.</a:t>
            </a:r>
          </a:p>
          <a:p>
            <a:pPr algn="just"/>
            <a:r>
              <a:rPr lang="en-IN" sz="2400" dirty="0"/>
              <a:t>The application helps users register donors, search donors by blood group, and manage donor information efficiently, making blood donation faster and more organized during emergencies.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0609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EE275-7C66-4B8B-FC0E-424332982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36B30E8F-772D-0C73-2E80-E83B44E37E28}"/>
              </a:ext>
            </a:extLst>
          </p:cNvPr>
          <p:cNvSpPr/>
          <p:nvPr/>
        </p:nvSpPr>
        <p:spPr>
          <a:xfrm>
            <a:off x="0" y="5750169"/>
            <a:ext cx="12218377" cy="1107831"/>
          </a:xfrm>
          <a:custGeom>
            <a:avLst/>
            <a:gdLst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192000"/>
              <a:gd name="csY0" fmla="*/ 0 h 1072662"/>
              <a:gd name="csX1" fmla="*/ 12192000 w 12192000"/>
              <a:gd name="csY1" fmla="*/ 0 h 1072662"/>
              <a:gd name="csX2" fmla="*/ 12192000 w 12192000"/>
              <a:gd name="csY2" fmla="*/ 1072662 h 1072662"/>
              <a:gd name="csX3" fmla="*/ 0 w 12192000"/>
              <a:gd name="csY3" fmla="*/ 1072662 h 1072662"/>
              <a:gd name="csX4" fmla="*/ 0 w 12192000"/>
              <a:gd name="csY4" fmla="*/ 0 h 1072662"/>
              <a:gd name="csX0" fmla="*/ 0 w 12218377"/>
              <a:gd name="csY0" fmla="*/ 35169 h 1107831"/>
              <a:gd name="csX1" fmla="*/ 12218377 w 12218377"/>
              <a:gd name="csY1" fmla="*/ 0 h 1107831"/>
              <a:gd name="csX2" fmla="*/ 12192000 w 12218377"/>
              <a:gd name="csY2" fmla="*/ 1107831 h 1107831"/>
              <a:gd name="csX3" fmla="*/ 0 w 12218377"/>
              <a:gd name="csY3" fmla="*/ 1107831 h 1107831"/>
              <a:gd name="csX4" fmla="*/ 0 w 12218377"/>
              <a:gd name="csY4" fmla="*/ 35169 h 11078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218377" h="1107831">
                <a:moveTo>
                  <a:pt x="0" y="35169"/>
                </a:moveTo>
                <a:cubicBezTo>
                  <a:pt x="5031155" y="2409091"/>
                  <a:pt x="8154377" y="0"/>
                  <a:pt x="12218377" y="0"/>
                </a:cubicBezTo>
                <a:lnTo>
                  <a:pt x="12192000" y="1107831"/>
                </a:lnTo>
                <a:lnTo>
                  <a:pt x="0" y="1107831"/>
                </a:lnTo>
                <a:lnTo>
                  <a:pt x="0" y="3516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0DF418DF-D6E4-CDC5-908F-6E859626A4F8}"/>
              </a:ext>
            </a:extLst>
          </p:cNvPr>
          <p:cNvSpPr/>
          <p:nvPr/>
        </p:nvSpPr>
        <p:spPr>
          <a:xfrm>
            <a:off x="0" y="-8792"/>
            <a:ext cx="2101361" cy="1248507"/>
          </a:xfrm>
          <a:custGeom>
            <a:avLst/>
            <a:gdLst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863969 w 1863969"/>
              <a:gd name="csY2" fmla="*/ 1239715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1863969"/>
              <a:gd name="csY0" fmla="*/ 0 h 1239715"/>
              <a:gd name="csX1" fmla="*/ 1863969 w 1863969"/>
              <a:gd name="csY1" fmla="*/ 0 h 1239715"/>
              <a:gd name="csX2" fmla="*/ 1143000 w 1863969"/>
              <a:gd name="csY2" fmla="*/ 720969 h 1239715"/>
              <a:gd name="csX3" fmla="*/ 0 w 1863969"/>
              <a:gd name="csY3" fmla="*/ 1239715 h 1239715"/>
              <a:gd name="csX4" fmla="*/ 0 w 1863969"/>
              <a:gd name="csY4" fmla="*/ 0 h 1239715"/>
              <a:gd name="csX0" fmla="*/ 0 w 2101361"/>
              <a:gd name="csY0" fmla="*/ 8792 h 1248507"/>
              <a:gd name="csX1" fmla="*/ 2101361 w 2101361"/>
              <a:gd name="csY1" fmla="*/ 0 h 1248507"/>
              <a:gd name="csX2" fmla="*/ 1143000 w 2101361"/>
              <a:gd name="csY2" fmla="*/ 729761 h 1248507"/>
              <a:gd name="csX3" fmla="*/ 0 w 2101361"/>
              <a:gd name="csY3" fmla="*/ 1248507 h 1248507"/>
              <a:gd name="csX4" fmla="*/ 0 w 2101361"/>
              <a:gd name="csY4" fmla="*/ 8792 h 1248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01361" h="1248507">
                <a:moveTo>
                  <a:pt x="0" y="8792"/>
                </a:moveTo>
                <a:lnTo>
                  <a:pt x="2101361" y="0"/>
                </a:lnTo>
                <a:cubicBezTo>
                  <a:pt x="2101361" y="756138"/>
                  <a:pt x="1239715" y="167054"/>
                  <a:pt x="1143000" y="729761"/>
                </a:cubicBezTo>
                <a:cubicBezTo>
                  <a:pt x="911469" y="1140068"/>
                  <a:pt x="381000" y="1075592"/>
                  <a:pt x="0" y="1248507"/>
                </a:cubicBezTo>
                <a:lnTo>
                  <a:pt x="0" y="879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EA1B4B-3CAE-C2A7-5E29-A68B9BEFB21F}"/>
              </a:ext>
            </a:extLst>
          </p:cNvPr>
          <p:cNvSpPr txBox="1"/>
          <p:nvPr/>
        </p:nvSpPr>
        <p:spPr>
          <a:xfrm>
            <a:off x="3367088" y="2663945"/>
            <a:ext cx="54578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rgbClr val="FF0000"/>
                </a:solidFill>
                <a:latin typeface="Aptos" panose="020B0004020202020204" pitchFamily="34" charset="0"/>
              </a:rPr>
              <a:t>Thankyou</a:t>
            </a:r>
            <a:endParaRPr lang="en-IN" sz="88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081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338</Words>
  <Application>Microsoft Office PowerPoint</Application>
  <PresentationFormat>Widescreen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satyam sharma</dc:creator>
  <cp:lastModifiedBy>satyam sharma</cp:lastModifiedBy>
  <cp:revision>3</cp:revision>
  <dcterms:created xsi:type="dcterms:W3CDTF">2026-07-29T22:50:50Z</dcterms:created>
  <dcterms:modified xsi:type="dcterms:W3CDTF">2026-08-07T04:24:14Z</dcterms:modified>
</cp:coreProperties>
</file>